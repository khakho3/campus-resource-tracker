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real problem: students walk to the library without knowing if it is open or which seats are available. This prototype turns sensor readings into live information for students and staff.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challenge as a campus communication problem, not just a sensor project. The value is saving time and making shared spaces easier to manage.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judges across the flow: sensor event, ESP32 decision, HTTP request, database update, and app screen 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physical photo to prove the idea is not only slides. Mention that the prototype can be simplified or expanded depending 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firstRun, change detection, and five-second interval in simple language: the ESP32 does not spam the server every loop unless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clear that the code has a good backend structure: separate endpoint for state, sensor readings, and RFID staff scans.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phone mockup is not meant to be a full final UI. It shows exactly what the sensor data would become in Flutter.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demo slowly. First show serial output. Then show server responses. Finally show the app state if the frontend is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the technical build to real campus value. This is the slide where the idea becomes bigger than the demo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hide the weaknesses. Judges often like teams that understand limitations and have practical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remote connection issue, explain that the endpoint structure stays the same. Only the base URL changes from local IP to cloud HTTPS.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an action plan. Make the judges feel the team can execute this within the hackathon timeline.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confidently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75488"/>
            <a:ext cx="11155680" cy="5897880"/>
          </a:xfrm>
          <a:prstGeom prst="roundRect">
            <a:avLst>
              <a:gd name="adj" fmla="val 186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/mnt/data/image-1785251021142.jpg">    </p:cNvPr>
          <p:cNvPicPr>
            <a:picLocks noChangeAspect="1"/>
          </p:cNvPicPr>
          <p:nvPr/>
        </p:nvPicPr>
        <p:blipFill>
          <a:blip r:embed="rId1"/>
          <a:srcRect l="12000" r="21263" t="0" b="0"/>
          <a:stretch/>
        </p:blipFill>
        <p:spPr>
          <a:xfrm>
            <a:off x="6537960" y="658368"/>
            <a:ext cx="4800600" cy="5394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758952"/>
            <a:ext cx="2148840" cy="310896"/>
          </a:xfrm>
          <a:prstGeom prst="roundRect">
            <a:avLst>
              <a:gd name="adj" fmla="val 35294"/>
            </a:avLst>
          </a:prstGeom>
          <a:solidFill>
            <a:srgbClr val="1DD3B0"/>
          </a:solidFill>
          <a:ln w="12700">
            <a:solidFill>
              <a:srgbClr val="1DD3B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827532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PROTOTYPE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77240" y="1417320"/>
            <a:ext cx="5394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Library</a:t>
            </a:r>
            <a:endParaRPr lang="en-US" sz="4300" dirty="0"/>
          </a:p>
          <a:p>
            <a:pPr algn="l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Availability Tracker</a:t>
            </a:r>
            <a:endParaRPr lang="en-US" sz="43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ESP32-powered system that shows whether the library is open, which seats are free, and staff access activity in real time.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541324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with ESP32 sensors, RFID, Python API, MySQL, and Flutter.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campus problem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418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waste time because room availability is not visible before they arrive.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21792" y="1298448"/>
            <a:ext cx="1143000" cy="0"/>
          </a:xfrm>
          <a:prstGeom prst="line">
            <a:avLst/>
          </a:prstGeom>
          <a:noFill/>
          <a:ln w="38100">
            <a:solidFill>
              <a:srgbClr val="1DD3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27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today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Students walk across campus only to find the library closed or full.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Staff do not have a simple live view of seat usage.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Manual checking is slow and cannot scale during busy periods.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35040" y="1572768"/>
            <a:ext cx="521208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745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DD3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0" y="239572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/ closed state from light sensor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880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400800" y="340156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seats checked with ultrasonic sensors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38862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RFID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400800" y="440740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scan logs for access control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571500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make room status visible before anyone wastes time walking there.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 • IoT • RFID • Flutter • Python API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idea in one sentence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418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smart library node reads the environment and sends live availability to a mobile app.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21792" y="1298448"/>
            <a:ext cx="1143000" cy="0"/>
          </a:xfrm>
          <a:prstGeom prst="line">
            <a:avLst/>
          </a:prstGeom>
          <a:noFill/>
          <a:ln w="38100">
            <a:solidFill>
              <a:srgbClr val="1DD3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90088" y="3090672"/>
            <a:ext cx="804672" cy="0"/>
          </a:xfrm>
          <a:prstGeom prst="line">
            <a:avLst/>
          </a:prstGeom>
          <a:noFill/>
          <a:ln w="28575">
            <a:solidFill>
              <a:srgbClr val="1DD3B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559552" y="3090672"/>
            <a:ext cx="804672" cy="0"/>
          </a:xfrm>
          <a:prstGeom prst="line">
            <a:avLst/>
          </a:prstGeom>
          <a:noFill/>
          <a:ln w="28575">
            <a:solidFill>
              <a:srgbClr val="1DD3B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101584" y="3090672"/>
            <a:ext cx="804672" cy="0"/>
          </a:xfrm>
          <a:prstGeom prst="line">
            <a:avLst/>
          </a:prstGeom>
          <a:noFill/>
          <a:ln w="28575">
            <a:solidFill>
              <a:srgbClr val="1DD3B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7240" y="2331720"/>
            <a:ext cx="2194560" cy="1508760"/>
          </a:xfrm>
          <a:prstGeom prst="roundRect">
            <a:avLst>
              <a:gd name="adj" fmla="val 7273"/>
            </a:avLst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46888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1832" y="2761488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LDR, PIR, ultrasonic, button, RFID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3767328" y="2331720"/>
            <a:ext cx="1783080" cy="1508760"/>
          </a:xfrm>
          <a:prstGeom prst="roundRect">
            <a:avLst>
              <a:gd name="adj" fmla="val 7273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246888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31920" y="2761488"/>
            <a:ext cx="1453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 pins, decides open/closed and seat status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6345936" y="2331720"/>
            <a:ext cx="1737360" cy="150876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2468880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+ DB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10528" y="2761488"/>
            <a:ext cx="1408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endpoints store the latest state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8887968" y="2331720"/>
            <a:ext cx="2240280" cy="1508760"/>
          </a:xfrm>
          <a:prstGeom prst="roundRect">
            <a:avLst>
              <a:gd name="adj" fmla="val 7273"/>
            </a:avLst>
          </a:prstGeom>
          <a:solidFill>
            <a:srgbClr val="FFE4E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246888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 App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52560" y="2761488"/>
            <a:ext cx="1911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see open seats before moving</a:t>
            </a:r>
            <a:endParaRPr lang="en-US" sz="1060" dirty="0"/>
          </a:p>
        </p:txBody>
      </p:sp>
      <p:sp>
        <p:nvSpPr>
          <p:cNvPr id="20" name="Text 18"/>
          <p:cNvSpPr/>
          <p:nvPr/>
        </p:nvSpPr>
        <p:spPr>
          <a:xfrm>
            <a:off x="841248" y="4709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it hackathon-ready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9536" y="513892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small, demoable, useful on campus, and easy to extend from the library to labs or classrooms.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 • IoT • RFID • Flutter • Python API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 prototype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418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ESP32 is the brain. Each sensor has one job in the availability story.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21792" y="1298448"/>
            <a:ext cx="1143000" cy="0"/>
          </a:xfrm>
          <a:prstGeom prst="line">
            <a:avLst/>
          </a:prstGeom>
          <a:noFill/>
          <a:ln w="38100">
            <a:solidFill>
              <a:srgbClr val="1DD3B0"/>
            </a:solidFill>
            <a:prstDash val="solid"/>
          </a:ln>
        </p:spPr>
      </p:sp>
      <p:pic>
        <p:nvPicPr>
          <p:cNvPr id="5" name="Image 0" descr="/mnt/data/image-1785251021142.jpg">    </p:cNvPr>
          <p:cNvPicPr>
            <a:picLocks noChangeAspect="1"/>
          </p:cNvPicPr>
          <p:nvPr/>
        </p:nvPicPr>
        <p:blipFill>
          <a:blip r:embed="rId1"/>
          <a:srcRect l="5000" r="26379" t="5000" b="13000"/>
          <a:stretch/>
        </p:blipFill>
        <p:spPr>
          <a:xfrm>
            <a:off x="685800" y="1463040"/>
            <a:ext cx="484632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1490472"/>
            <a:ext cx="256032" cy="256032"/>
          </a:xfrm>
          <a:prstGeom prst="roundRect">
            <a:avLst>
              <a:gd name="adj" fmla="val 42857"/>
            </a:avLst>
          </a:prstGeom>
          <a:solidFill>
            <a:srgbClr val="1DD3B0"/>
          </a:solidFill>
          <a:ln w="12700">
            <a:solidFill>
              <a:srgbClr val="1DD3B0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82512" y="147218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ESP32-WROOM-32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823960" y="148590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WiFi microcontroller that sends HTTP data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89320" y="2157984"/>
            <a:ext cx="256032" cy="256032"/>
          </a:xfrm>
          <a:prstGeom prst="roundRect">
            <a:avLst>
              <a:gd name="adj" fmla="val 42857"/>
            </a:avLst>
          </a:prstGeom>
          <a:solidFill>
            <a:srgbClr val="126782"/>
          </a:solidFill>
          <a:ln w="12700">
            <a:solidFill>
              <a:srgbClr val="126782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82512" y="213969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LDR on GPIO 34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823960" y="2153412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Detects light level to infer library open/closed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89320" y="2825496"/>
            <a:ext cx="256032" cy="256032"/>
          </a:xfrm>
          <a:prstGeom prst="roundRect">
            <a:avLst>
              <a:gd name="adj" fmla="val 42857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2512" y="280720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PIR on GPIO 14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823960" y="2820924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Detects movement in the area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989320" y="3493008"/>
            <a:ext cx="256032" cy="256032"/>
          </a:xfrm>
          <a:prstGeom prst="roundRect">
            <a:avLst>
              <a:gd name="adj" fmla="val 42857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82512" y="34747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Ultrasonic A1/A2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823960" y="3488436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if each seat is occupied by distance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989320" y="4160520"/>
            <a:ext cx="256032" cy="256032"/>
          </a:xfrm>
          <a:prstGeom prst="roundRect">
            <a:avLst>
              <a:gd name="adj" fmla="val 42857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82512" y="41422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MFRC522 RFID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823960" y="4155948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Scans staff card UID for access logging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989320" y="4828032"/>
            <a:ext cx="256032" cy="256032"/>
          </a:xfrm>
          <a:prstGeom prst="roundRect">
            <a:avLst>
              <a:gd name="adj" fmla="val 42857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82512" y="480974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 + Button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8823960" y="482346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physical demo input and output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4008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 • IoT • RFID • Flutter • Python API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ESP32 code does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418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firmware turns raw sensor readings into meaningful library events.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21792" y="1298448"/>
            <a:ext cx="1143000" cy="0"/>
          </a:xfrm>
          <a:prstGeom prst="line">
            <a:avLst/>
          </a:prstGeom>
          <a:noFill/>
          <a:ln w="38100">
            <a:solidFill>
              <a:srgbClr val="1DD3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47672" y="2103120"/>
            <a:ext cx="640080" cy="0"/>
          </a:xfrm>
          <a:prstGeom prst="line">
            <a:avLst/>
          </a:prstGeom>
          <a:noFill/>
          <a:ln w="28575">
            <a:solidFill>
              <a:srgbClr val="1DD3B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07992" y="2103120"/>
            <a:ext cx="640080" cy="0"/>
          </a:xfrm>
          <a:prstGeom prst="line">
            <a:avLst/>
          </a:prstGeom>
          <a:noFill/>
          <a:ln w="28575">
            <a:solidFill>
              <a:srgbClr val="1DD3B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068312" y="2103120"/>
            <a:ext cx="640080" cy="0"/>
          </a:xfrm>
          <a:prstGeom prst="line">
            <a:avLst/>
          </a:prstGeom>
          <a:noFill/>
          <a:ln w="28575">
            <a:solidFill>
              <a:srgbClr val="1DD3B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628632" y="2103120"/>
            <a:ext cx="640080" cy="0"/>
          </a:xfrm>
          <a:prstGeom prst="line">
            <a:avLst/>
          </a:prstGeom>
          <a:noFill/>
          <a:ln w="28575">
            <a:solidFill>
              <a:srgbClr val="1DD3B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4360" y="1508760"/>
            <a:ext cx="1417320" cy="1170432"/>
          </a:xfrm>
          <a:prstGeom prst="roundRect">
            <a:avLst>
              <a:gd name="adj" fmla="val 9375"/>
            </a:avLst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64592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Connect WiFi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8952" y="1938528"/>
            <a:ext cx="10881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station mode and connects to the configured SSID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2560320" y="1508760"/>
            <a:ext cx="19659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4912" y="164592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Read inputs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24912" y="1938528"/>
            <a:ext cx="16367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Button, LDR, PIR, ultrasonic distance, RFID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5120640" y="1508760"/>
            <a:ext cx="1965960" cy="1170432"/>
          </a:xfrm>
          <a:prstGeom prst="roundRect">
            <a:avLst>
              <a:gd name="adj" fmla="val 9375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85232" y="164592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Decide status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85232" y="1938528"/>
            <a:ext cx="16367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 &gt; 1800 = open; distance ≤ 45cm = occupied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7680960" y="1508760"/>
            <a:ext cx="1965960" cy="1170432"/>
          </a:xfrm>
          <a:prstGeom prst="roundRect">
            <a:avLst>
              <a:gd name="adj" fmla="val 9375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45552" y="164592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Send changes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845552" y="1938528"/>
            <a:ext cx="16367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 library state; POST IoT readings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10241280" y="1508760"/>
            <a:ext cx="1417320" cy="1170432"/>
          </a:xfrm>
          <a:prstGeom prst="roundRect">
            <a:avLst>
              <a:gd name="adj" fmla="val 9375"/>
            </a:avLst>
          </a:prstGeom>
          <a:solidFill>
            <a:srgbClr val="FFE4E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05872" y="164592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Scan staff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405872" y="1938528"/>
            <a:ext cx="10881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card UID to staff endpoint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841248" y="3886200"/>
            <a:ext cx="10515600" cy="1280160"/>
          </a:xfrm>
          <a:prstGeom prst="roundRect">
            <a:avLst>
              <a:gd name="adj" fmla="val 8571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4142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D3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timing rule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154680" y="4087368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data is sent immediately when something changes, or every 5 seconds as a heartbeat so the backend stays updated.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 • IoT • RFID • Flutter • Python API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communication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418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firmware already separates data into three clear API actions.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21792" y="1298448"/>
            <a:ext cx="1143000" cy="0"/>
          </a:xfrm>
          <a:prstGeom prst="line">
            <a:avLst/>
          </a:prstGeom>
          <a:noFill/>
          <a:ln w="38100">
            <a:solidFill>
              <a:srgbClr val="1DD3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3383280" cy="3977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10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Library state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DD3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 /api/v1/library/state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Payload: { is_open: true/false }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if the library is opened or closed.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3383280" cy="3977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810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readings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09160" y="2331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DD3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/api/v1/iot/readings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709160" y="28803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Payload: device id, motion state, A1/A2 occupancy and distance.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138160" y="1508760"/>
            <a:ext cx="3383280" cy="3977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810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scan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12480" y="2331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DD3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/api/v1/staff/scan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12480" y="28803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Payload: RFID UID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identify staff access events and trigger permission logic.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6868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URL uses a local IP. For final remote access, we deploy the API online and replace the IP with an HTTPS domain.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 • IoT • RFID • Flutter • Python API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students see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418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turns sensor data into a simple answer: go now, or try somewhere else.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21792" y="1298448"/>
            <a:ext cx="1143000" cy="0"/>
          </a:xfrm>
          <a:prstGeom prst="line">
            <a:avLst/>
          </a:prstGeom>
          <a:noFill/>
          <a:ln w="38100">
            <a:solidFill>
              <a:srgbClr val="1DD3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3749040" cy="4251960"/>
          </a:xfrm>
          <a:prstGeom prst="roundRect">
            <a:avLst>
              <a:gd name="adj" fmla="val 2927"/>
            </a:avLst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1874520"/>
            <a:ext cx="3246120" cy="365760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8448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Library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136392" y="2523744"/>
            <a:ext cx="987552" cy="310896"/>
          </a:xfrm>
          <a:prstGeom prst="roundRect">
            <a:avLst>
              <a:gd name="adj" fmla="val 35294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27832" y="2592324"/>
            <a:ext cx="804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NOW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98448" y="29443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Seat availability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98448" y="3200400"/>
            <a:ext cx="1115568" cy="100584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72768" y="3410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27048" y="37673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06624" y="3200400"/>
            <a:ext cx="1115568" cy="1005840"/>
          </a:xfrm>
          <a:prstGeom prst="roundRect">
            <a:avLst>
              <a:gd name="adj" fmla="val 10909"/>
            </a:avLst>
          </a:prstGeom>
          <a:solidFill>
            <a:srgbClr val="FFE4E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0088" y="3410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926080" y="37673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298448" y="4590288"/>
            <a:ext cx="2523744" cy="502920"/>
          </a:xfrm>
          <a:prstGeom prst="roundRect">
            <a:avLst>
              <a:gd name="adj" fmla="val 21818"/>
            </a:avLst>
          </a:prstGeom>
          <a:solidFill>
            <a:srgbClr val="1DD3B0"/>
          </a:solidFill>
          <a:ln w="12700">
            <a:solidFill>
              <a:srgbClr val="1DD3B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0" y="473659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directions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18288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Behind the screen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532120" y="2432304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Latest library open/closed state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Latest seat readings from A1 and A2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Motion confidence from PIR + LDR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Staff access event history for administrators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532120" y="489204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is useful even with only two seats: it proves the full pipeline from physical space to mobile view.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 • IoT • RFID • Flutter • Python API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plan for judges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418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physical demo can prove the idea in under two minutes.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21792" y="1298448"/>
            <a:ext cx="1143000" cy="0"/>
          </a:xfrm>
          <a:prstGeom prst="line">
            <a:avLst/>
          </a:prstGeom>
          <a:noFill/>
          <a:ln w="38100">
            <a:solidFill>
              <a:srgbClr val="1DD3B0"/>
            </a:solidFill>
            <a:prstDash val="solid"/>
          </a:ln>
        </p:spPr>
      </p:sp>
      <p:pic>
        <p:nvPicPr>
          <p:cNvPr id="5" name="Image 0" descr="/mnt/data/image-1785251136662.jpg">    </p:cNvPr>
          <p:cNvPicPr>
            <a:picLocks noChangeAspect="1"/>
          </p:cNvPicPr>
          <p:nvPr/>
        </p:nvPicPr>
        <p:blipFill>
          <a:blip r:embed="rId1"/>
          <a:srcRect l="3000" r="13129" t="10000" b="12000"/>
          <a:stretch/>
        </p:blipFill>
        <p:spPr>
          <a:xfrm>
            <a:off x="7909560" y="1417320"/>
            <a:ext cx="3429000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150876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1DD3B0"/>
          </a:solidFill>
          <a:ln w="12700">
            <a:solidFill>
              <a:srgbClr val="1DD3B0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162763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15361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 / uncover LDR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54480" y="185623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Serial monitor shows light value and library state changes.</a:t>
            </a:r>
            <a:endParaRPr lang="en-US" sz="1370" dirty="0"/>
          </a:p>
        </p:txBody>
      </p:sp>
      <p:sp>
        <p:nvSpPr>
          <p:cNvPr id="10" name="Shape 7"/>
          <p:cNvSpPr/>
          <p:nvPr/>
        </p:nvSpPr>
        <p:spPr>
          <a:xfrm>
            <a:off x="777240" y="2441448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2560320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554480" y="24688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hand near A1/A2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554480" y="278892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Ultrasonic distance falls below 45cm and seat becomes occupied.</a:t>
            </a:r>
            <a:endParaRPr lang="en-US" sz="1370" dirty="0"/>
          </a:p>
        </p:txBody>
      </p:sp>
      <p:sp>
        <p:nvSpPr>
          <p:cNvPr id="14" name="Shape 11"/>
          <p:cNvSpPr/>
          <p:nvPr/>
        </p:nvSpPr>
        <p:spPr>
          <a:xfrm>
            <a:off x="777240" y="3374136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349300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554480" y="34015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in front of PIR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554480" y="372160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 state changes and IoT reading is posted.</a:t>
            </a:r>
            <a:endParaRPr lang="en-US" sz="1370" dirty="0"/>
          </a:p>
        </p:txBody>
      </p:sp>
      <p:sp>
        <p:nvSpPr>
          <p:cNvPr id="18" name="Shape 15"/>
          <p:cNvSpPr/>
          <p:nvPr/>
        </p:nvSpPr>
        <p:spPr>
          <a:xfrm>
            <a:off x="777240" y="4306824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0120" y="4425696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554480" y="433425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 RFID card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554480" y="465429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UID is printed and sent to staff scan endpoint.</a:t>
            </a:r>
            <a:endParaRPr lang="en-US" sz="1370" dirty="0"/>
          </a:p>
        </p:txBody>
      </p:sp>
      <p:sp>
        <p:nvSpPr>
          <p:cNvPr id="22" name="Text 19"/>
          <p:cNvSpPr/>
          <p:nvPr/>
        </p:nvSpPr>
        <p:spPr>
          <a:xfrm>
            <a:off x="868680" y="58247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 takeaway: this is not a mockup only — the serial monitor and API status codes show live hardware-to-server behavior.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64008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 • IoT • RFID • Flutter • Python API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and value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418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design can support more rooms after the library prototype works.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21792" y="1298448"/>
            <a:ext cx="1143000" cy="0"/>
          </a:xfrm>
          <a:prstGeom prst="line">
            <a:avLst/>
          </a:prstGeom>
          <a:noFill/>
          <a:ln w="38100">
            <a:solidFill>
              <a:srgbClr val="1DD3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3200400" cy="347472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students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2514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 before walking. Save time. Find a free seat faster during busy hours.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498848" y="1600200"/>
            <a:ext cx="3200400" cy="347472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staff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73168" y="2514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occupancy trends, opening state, and staff scan activity without manual checks.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211312" y="1600200"/>
            <a:ext cx="3200400" cy="347472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85632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campus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485632" y="2514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 from library to labs, classrooms, study halls, and workstation zones.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60120" y="566928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D3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small sensor node can become a campus-wide resource availability network.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 • IoT • RFID • Flutter • Python API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Downsides we identified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418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know the prototype has weaknesses, so the plan includes fixes.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21792" y="1298448"/>
            <a:ext cx="1143000" cy="0"/>
          </a:xfrm>
          <a:prstGeom prst="line">
            <a:avLst/>
          </a:prstGeom>
          <a:noFill/>
          <a:ln w="38100">
            <a:solidFill>
              <a:srgbClr val="1DD3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105156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6362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server IP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493008" y="15361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ESP32 URL points to 10.72.127.242, so it only works on that network.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249424"/>
            <a:ext cx="105156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39572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WiFi + power issues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3493008" y="23682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 WiFi can draw more current and cause resets with weak USB power.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081528"/>
            <a:ext cx="105156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2783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 sensor errors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493008" y="32004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Sunlight or shadows can make the LDR think the library is open or closed.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913632"/>
            <a:ext cx="105156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05993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Ultrasonic noise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3493008" y="403250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Seats can be misread if people move, bags block the sensor, or echo voltage is wrong.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745736"/>
            <a:ext cx="105156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89204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DD3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concern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493008" y="48646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Occupancy tracking must avoid collecting personal student identity.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 • IoT • RFID • Flutter • Python API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 plan to solve them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418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downside has a practical engineering fix.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21792" y="1298448"/>
            <a:ext cx="1143000" cy="0"/>
          </a:xfrm>
          <a:prstGeom prst="line">
            <a:avLst/>
          </a:prstGeom>
          <a:noFill/>
          <a:ln w="38100">
            <a:solidFill>
              <a:srgbClr val="1DD3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1810512"/>
            <a:ext cx="594360" cy="0"/>
          </a:xfrm>
          <a:prstGeom prst="line">
            <a:avLst/>
          </a:prstGeom>
          <a:noFill/>
          <a:ln w="28575">
            <a:solidFill>
              <a:srgbClr val="1DD3B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474720" y="2606040"/>
            <a:ext cx="594360" cy="0"/>
          </a:xfrm>
          <a:prstGeom prst="line">
            <a:avLst/>
          </a:prstGeom>
          <a:noFill/>
          <a:ln w="28575">
            <a:solidFill>
              <a:srgbClr val="1DD3B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74720" y="3401568"/>
            <a:ext cx="594360" cy="0"/>
          </a:xfrm>
          <a:prstGeom prst="line">
            <a:avLst/>
          </a:prstGeom>
          <a:noFill/>
          <a:ln w="28575">
            <a:solidFill>
              <a:srgbClr val="1DD3B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74720" y="4197096"/>
            <a:ext cx="594360" cy="0"/>
          </a:xfrm>
          <a:prstGeom prst="line">
            <a:avLst/>
          </a:prstGeom>
          <a:noFill/>
          <a:ln w="28575">
            <a:solidFill>
              <a:srgbClr val="1DD3B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74720" y="4992624"/>
            <a:ext cx="594360" cy="0"/>
          </a:xfrm>
          <a:prstGeom prst="line">
            <a:avLst/>
          </a:prstGeom>
          <a:noFill/>
          <a:ln w="28575">
            <a:solidFill>
              <a:srgbClr val="1DD3B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77240" y="1508760"/>
            <a:ext cx="2560320" cy="502920"/>
          </a:xfrm>
          <a:prstGeom prst="roundRect">
            <a:avLst>
              <a:gd name="adj" fmla="val 21818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164592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IP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114800" y="1463040"/>
            <a:ext cx="713232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1591056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backend online with HTTPS or use a tunnel during demo. Store the URL as a config value.</a:t>
            </a:r>
            <a:endParaRPr lang="en-US" sz="1530" dirty="0"/>
          </a:p>
        </p:txBody>
      </p:sp>
      <p:sp>
        <p:nvSpPr>
          <p:cNvPr id="14" name="Shape 12"/>
          <p:cNvSpPr/>
          <p:nvPr/>
        </p:nvSpPr>
        <p:spPr>
          <a:xfrm>
            <a:off x="777240" y="2304288"/>
            <a:ext cx="2560320" cy="502920"/>
          </a:xfrm>
          <a:prstGeom prst="roundRect">
            <a:avLst>
              <a:gd name="adj" fmla="val 21818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244144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reset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114800" y="2258568"/>
            <a:ext cx="713232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07408" y="2386584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stable 5V 2A power, short USB cable, common ground, and test current under WiFi load.</a:t>
            </a:r>
            <a:endParaRPr lang="en-US" sz="1530" dirty="0"/>
          </a:p>
        </p:txBody>
      </p:sp>
      <p:sp>
        <p:nvSpPr>
          <p:cNvPr id="18" name="Shape 16"/>
          <p:cNvSpPr/>
          <p:nvPr/>
        </p:nvSpPr>
        <p:spPr>
          <a:xfrm>
            <a:off x="777240" y="3099816"/>
            <a:ext cx="2560320" cy="502920"/>
          </a:xfrm>
          <a:prstGeom prst="roundRect">
            <a:avLst>
              <a:gd name="adj" fmla="val 21818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323697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LDR false state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114800" y="3054096"/>
            <a:ext cx="713232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7408" y="3182112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Calibrate threshold per room, combine with staff RFID and opening schedule, and shield sensor.</a:t>
            </a:r>
            <a:endParaRPr lang="en-US" sz="1530" dirty="0"/>
          </a:p>
        </p:txBody>
      </p:sp>
      <p:sp>
        <p:nvSpPr>
          <p:cNvPr id="22" name="Shape 20"/>
          <p:cNvSpPr/>
          <p:nvPr/>
        </p:nvSpPr>
        <p:spPr>
          <a:xfrm>
            <a:off x="777240" y="3895344"/>
            <a:ext cx="2560320" cy="502920"/>
          </a:xfrm>
          <a:prstGeom prst="roundRect">
            <a:avLst>
              <a:gd name="adj" fmla="val 21818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3272" y="403250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noise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114800" y="3849624"/>
            <a:ext cx="713232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07408" y="3977640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distance readings, add timeout handling, use 3.3V-safe echo divider, and confirm with PIR.</a:t>
            </a:r>
            <a:endParaRPr lang="en-US" sz="1530" dirty="0"/>
          </a:p>
        </p:txBody>
      </p:sp>
      <p:sp>
        <p:nvSpPr>
          <p:cNvPr id="26" name="Shape 24"/>
          <p:cNvSpPr/>
          <p:nvPr/>
        </p:nvSpPr>
        <p:spPr>
          <a:xfrm>
            <a:off x="777240" y="4690872"/>
            <a:ext cx="2560320" cy="502920"/>
          </a:xfrm>
          <a:prstGeom prst="roundRect">
            <a:avLst>
              <a:gd name="adj" fmla="val 21818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3272" y="482803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4114800" y="4645152"/>
            <a:ext cx="713232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07408" y="4773168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use cameras. Store seat state and staff UID events only; no student identity needed.</a:t>
            </a:r>
            <a:endParaRPr lang="en-US" sz="153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 • IoT • RFID • Flutter • Python API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roadmap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418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can finish for the hackathon, and what comes next.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21792" y="1298448"/>
            <a:ext cx="1143000" cy="0"/>
          </a:xfrm>
          <a:prstGeom prst="line">
            <a:avLst/>
          </a:prstGeom>
          <a:noFill/>
          <a:ln w="38100">
            <a:solidFill>
              <a:srgbClr val="1DD3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0280" y="2971800"/>
            <a:ext cx="1600200" cy="0"/>
          </a:xfrm>
          <a:prstGeom prst="line">
            <a:avLst/>
          </a:prstGeom>
          <a:noFill/>
          <a:ln w="28575">
            <a:solidFill>
              <a:srgbClr val="1DD3B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983480" y="2971800"/>
            <a:ext cx="1600200" cy="0"/>
          </a:xfrm>
          <a:prstGeom prst="line">
            <a:avLst/>
          </a:prstGeom>
          <a:noFill/>
          <a:ln w="28575">
            <a:solidFill>
              <a:srgbClr val="1DD3B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26680" y="2971800"/>
            <a:ext cx="1600200" cy="0"/>
          </a:xfrm>
          <a:prstGeom prst="line">
            <a:avLst/>
          </a:prstGeom>
          <a:noFill/>
          <a:ln w="28575">
            <a:solidFill>
              <a:srgbClr val="1DD3B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5800" y="2148840"/>
            <a:ext cx="1627632" cy="1627632"/>
          </a:xfrm>
          <a:prstGeom prst="roundRect">
            <a:avLst>
              <a:gd name="adj" fmla="val 6742"/>
            </a:avLst>
          </a:prstGeom>
          <a:solidFill>
            <a:srgbClr val="1DD3B0"/>
          </a:solidFill>
          <a:ln w="12700">
            <a:solidFill>
              <a:srgbClr val="1DD3B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07592" y="249631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502920" y="4005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4434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firmware, prove serial readings, confirm HTTP status codes.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429000" y="2148840"/>
            <a:ext cx="1627632" cy="1627632"/>
          </a:xfrm>
          <a:prstGeom prst="roundRect">
            <a:avLst>
              <a:gd name="adj" fmla="val 6742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50792" y="249631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3246120" y="4005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demo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08960" y="4434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open/closed state, A1/A2 occupancy, RFID scan, and Flutter screen.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2148840"/>
            <a:ext cx="1627632" cy="1627632"/>
          </a:xfrm>
          <a:prstGeom prst="roundRect">
            <a:avLst>
              <a:gd name="adj" fmla="val 6742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93992" y="249631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5989320" y="4005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version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52160" y="4434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backend, database dashboard, better sensor calibration, more seats.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915400" y="2148840"/>
            <a:ext cx="1627632" cy="1627632"/>
          </a:xfrm>
          <a:prstGeom prst="roundRect">
            <a:avLst>
              <a:gd name="adj" fmla="val 6742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37192" y="249631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3100" dirty="0"/>
          </a:p>
        </p:txBody>
      </p:sp>
      <p:sp>
        <p:nvSpPr>
          <p:cNvPr id="22" name="Text 20"/>
          <p:cNvSpPr/>
          <p:nvPr/>
        </p:nvSpPr>
        <p:spPr>
          <a:xfrm>
            <a:off x="8732520" y="4005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Campus scale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95360" y="4434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ESP32 nodes for library, labs, classrooms, and workstations.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58064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already contains the correct foundation: sensors → decision logic → API → app.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 • IoT • RFID • Flutter • Python API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123444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spaces start with simple signals.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783080" y="2423160"/>
            <a:ext cx="8641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ESP32 node gives the campus a live view of library availability — open status, seat status, movement, and staff scan events.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017520" y="3886200"/>
            <a:ext cx="6126480" cy="658368"/>
          </a:xfrm>
          <a:prstGeom prst="roundRect">
            <a:avLst>
              <a:gd name="adj" fmla="val 16667"/>
            </a:avLst>
          </a:prstGeom>
          <a:solidFill>
            <a:srgbClr val="1DD3B0"/>
          </a:solidFill>
          <a:ln w="12700">
            <a:solidFill>
              <a:srgbClr val="1DD3B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26280" y="408736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TO DEMO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754880" y="52852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Hackathon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Library Availability Tracker</dc:title>
  <dc:subject>Hackathon pitch deck for ESP32 smart library resource tracker</dc:subject>
  <dc:creator>OpenAI</dc:creator>
  <cp:lastModifiedBy>OpenAI</cp:lastModifiedBy>
  <cp:revision>1</cp:revision>
  <dcterms:created xsi:type="dcterms:W3CDTF">2026-07-29T11:23:35Z</dcterms:created>
  <dcterms:modified xsi:type="dcterms:W3CDTF">2026-07-29T11:23:35Z</dcterms:modified>
</cp:coreProperties>
</file>